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4T14:22:42.301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108 108,'0'0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4T14:22:40.32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5FE882-1AD3-3D67-98A2-5A8C39796F61}"/>
              </a:ext>
            </a:extLst>
          </p:cNvPr>
          <p:cNvSpPr/>
          <p:nvPr/>
        </p:nvSpPr>
        <p:spPr>
          <a:xfrm>
            <a:off x="53707" y="209862"/>
            <a:ext cx="11288058" cy="64157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71341" y="459864"/>
            <a:ext cx="4924399" cy="486165"/>
          </a:xfrm>
          <a:custGeom>
            <a:avLst/>
            <a:gdLst>
              <a:gd name="csX0" fmla="*/ 0 w 2148840"/>
              <a:gd name="csY0" fmla="*/ 73153 h 438912"/>
              <a:gd name="csX1" fmla="*/ 73153 w 2148840"/>
              <a:gd name="csY1" fmla="*/ 0 h 438912"/>
              <a:gd name="csX2" fmla="*/ 2075687 w 2148840"/>
              <a:gd name="csY2" fmla="*/ 0 h 438912"/>
              <a:gd name="csX3" fmla="*/ 2148840 w 2148840"/>
              <a:gd name="csY3" fmla="*/ 73153 h 438912"/>
              <a:gd name="csX4" fmla="*/ 2148840 w 2148840"/>
              <a:gd name="csY4" fmla="*/ 365759 h 438912"/>
              <a:gd name="csX5" fmla="*/ 2075687 w 2148840"/>
              <a:gd name="csY5" fmla="*/ 438912 h 438912"/>
              <a:gd name="csX6" fmla="*/ 73153 w 2148840"/>
              <a:gd name="csY6" fmla="*/ 438912 h 438912"/>
              <a:gd name="csX7" fmla="*/ 0 w 2148840"/>
              <a:gd name="csY7" fmla="*/ 365759 h 438912"/>
              <a:gd name="csX8" fmla="*/ 0 w 2148840"/>
              <a:gd name="csY8" fmla="*/ 73153 h 438912"/>
              <a:gd name="csX0" fmla="*/ 0 w 2148840"/>
              <a:gd name="csY0" fmla="*/ 73153 h 438912"/>
              <a:gd name="csX1" fmla="*/ 73153 w 2148840"/>
              <a:gd name="csY1" fmla="*/ 0 h 438912"/>
              <a:gd name="csX2" fmla="*/ 2075687 w 2148840"/>
              <a:gd name="csY2" fmla="*/ 0 h 438912"/>
              <a:gd name="csX3" fmla="*/ 2148840 w 2148840"/>
              <a:gd name="csY3" fmla="*/ 73153 h 438912"/>
              <a:gd name="csX4" fmla="*/ 2148840 w 2148840"/>
              <a:gd name="csY4" fmla="*/ 365759 h 438912"/>
              <a:gd name="csX5" fmla="*/ 2060697 w 2148840"/>
              <a:gd name="csY5" fmla="*/ 423921 h 438912"/>
              <a:gd name="csX6" fmla="*/ 73153 w 2148840"/>
              <a:gd name="csY6" fmla="*/ 438912 h 438912"/>
              <a:gd name="csX7" fmla="*/ 0 w 2148840"/>
              <a:gd name="csY7" fmla="*/ 365759 h 438912"/>
              <a:gd name="csX8" fmla="*/ 0 w 2148840"/>
              <a:gd name="csY8" fmla="*/ 73153 h 438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48840" h="438912">
                <a:moveTo>
                  <a:pt x="0" y="73153"/>
                </a:moveTo>
                <a:cubicBezTo>
                  <a:pt x="0" y="32752"/>
                  <a:pt x="32752" y="0"/>
                  <a:pt x="73153" y="0"/>
                </a:cubicBezTo>
                <a:lnTo>
                  <a:pt x="2075687" y="0"/>
                </a:lnTo>
                <a:cubicBezTo>
                  <a:pt x="2116088" y="0"/>
                  <a:pt x="2148840" y="32752"/>
                  <a:pt x="2148840" y="73153"/>
                </a:cubicBezTo>
                <a:lnTo>
                  <a:pt x="2148840" y="365759"/>
                </a:lnTo>
                <a:cubicBezTo>
                  <a:pt x="2148840" y="406160"/>
                  <a:pt x="2101098" y="423921"/>
                  <a:pt x="2060697" y="423921"/>
                </a:cubicBezTo>
                <a:lnTo>
                  <a:pt x="73153" y="438912"/>
                </a:lnTo>
                <a:cubicBezTo>
                  <a:pt x="32752" y="438912"/>
                  <a:pt x="0" y="406160"/>
                  <a:pt x="0" y="365759"/>
                </a:cubicBezTo>
                <a:lnTo>
                  <a:pt x="0" y="73153"/>
                </a:lnTo>
                <a:close/>
              </a:path>
            </a:pathLst>
          </a:cu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buNone/>
            </a:pPr>
            <a:r>
              <a:rPr sz="1100" b="1">
                <a:solidFill>
                  <a:srgbClr val="161616"/>
                </a:solidFill>
                <a:latin typeface="Arial"/>
              </a:rPr>
              <a:t>COMP-112 • OOP PROJECT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771" y="1023828"/>
            <a:ext cx="10686994" cy="670953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3400" b="1">
                <a:solidFill>
                  <a:srgbClr val="00A2E8"/>
                </a:solidFill>
                <a:latin typeface="Arial"/>
              </a:rPr>
              <a:t>TITAN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058" y="1682196"/>
            <a:ext cx="10896543" cy="763286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2000" b="0">
                <a:solidFill>
                  <a:srgbClr val="F0F0F0"/>
                </a:solidFill>
                <a:latin typeface="Arial"/>
              </a:rPr>
              <a:t>A Secure, Offline Fitness Ecosystem using C++11, OOP, Local Persistence, and Validation-Centric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058" y="2715468"/>
            <a:ext cx="10896543" cy="2686889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500" b="0" dirty="0">
                <a:solidFill>
                  <a:srgbClr val="B4B4B4"/>
                </a:solidFill>
                <a:latin typeface="Arial"/>
              </a:rPr>
              <a:t>Presented by
Zarak Khan Afridi — B25F0485CYD123
Amar Sadat — B25F2099CYS127
BS Cybersecurity (2nd Semester)
Pak-Austria </a:t>
            </a:r>
            <a:r>
              <a:rPr sz="1500" b="0" dirty="0" err="1">
                <a:solidFill>
                  <a:srgbClr val="B4B4B4"/>
                </a:solidFill>
                <a:latin typeface="Arial"/>
              </a:rPr>
              <a:t>Fachhochschule</a:t>
            </a:r>
            <a:r>
              <a:rPr sz="1500" b="0" dirty="0">
                <a:solidFill>
                  <a:srgbClr val="B4B4B4"/>
                </a:solidFill>
                <a:latin typeface="Arial"/>
              </a:rPr>
              <a:t>: Institute of Applied Sciences and Technology
Evaluator: Mr. Aadil Khan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668300-7AE3-55A2-5BD6-371B543B053C}"/>
                  </a:ext>
                </a:extLst>
              </p14:cNvPr>
              <p14:cNvContentPartPr/>
              <p14:nvPr/>
            </p14:nvContentPartPr>
            <p14:xfrm>
              <a:off x="-1199739" y="2832715"/>
              <a:ext cx="47035" cy="45719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668300-7AE3-55A2-5BD6-371B543B05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606739" y="-15454885"/>
                <a:ext cx="18814000" cy="3657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AA67D9-DB34-397B-3187-BFC3D9A45A43}"/>
              </a:ext>
            </a:extLst>
          </p:cNvPr>
          <p:cNvSpPr/>
          <p:nvPr/>
        </p:nvSpPr>
        <p:spPr>
          <a:xfrm>
            <a:off x="197796" y="25061"/>
            <a:ext cx="11667228" cy="66562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CD0DCAA3-7974-2BE2-6582-788B3D653893}"/>
              </a:ext>
            </a:extLst>
          </p:cNvPr>
          <p:cNvSpPr/>
          <p:nvPr/>
        </p:nvSpPr>
        <p:spPr>
          <a:xfrm>
            <a:off x="1124880" y="518594"/>
            <a:ext cx="8648920" cy="382760"/>
          </a:xfrm>
          <a:prstGeom prst="roundRect">
            <a:avLst>
              <a:gd name="adj" fmla="val 40085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4307C-3B9D-597F-10E6-53D04C321D16}"/>
              </a:ext>
            </a:extLst>
          </p:cNvPr>
          <p:cNvSpPr txBox="1"/>
          <p:nvPr/>
        </p:nvSpPr>
        <p:spPr>
          <a:xfrm>
            <a:off x="109202" y="596950"/>
            <a:ext cx="10723906" cy="25237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FFBF00"/>
                </a:solidFill>
                <a:latin typeface="Arial"/>
              </a:rPr>
              <a:t>Gatekeeper System • Main Login / Entry Menu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E78332A-4EC1-2224-4F29-6656516CC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82" y="1314044"/>
            <a:ext cx="10393475" cy="4337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05F149-905E-F4B7-AF5C-CBDD9A8425EB}"/>
              </a:ext>
            </a:extLst>
          </p:cNvPr>
          <p:cNvSpPr txBox="1"/>
          <p:nvPr/>
        </p:nvSpPr>
        <p:spPr>
          <a:xfrm>
            <a:off x="207789" y="6359597"/>
            <a:ext cx="10723906" cy="172355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 dirty="0">
                <a:solidFill>
                  <a:srgbClr val="B4B4B4"/>
                </a:solidFill>
                <a:latin typeface="Consolas"/>
              </a:rPr>
              <a:t>User selects Register, Authenticate &amp; Log In, or Exit</a:t>
            </a:r>
          </a:p>
        </p:txBody>
      </p: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75B285A5-B313-2C83-3370-2FB227E13702}"/>
              </a:ext>
            </a:extLst>
          </p:cNvPr>
          <p:cNvSpPr/>
          <p:nvPr/>
        </p:nvSpPr>
        <p:spPr>
          <a:xfrm>
            <a:off x="1079944" y="5066779"/>
            <a:ext cx="2535423" cy="291627"/>
          </a:xfrm>
          <a:prstGeom prst="round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buNone/>
            </a:pPr>
            <a:r>
              <a:rPr sz="1100" b="1" dirty="0">
                <a:solidFill>
                  <a:srgbClr val="161616"/>
                </a:solidFill>
                <a:latin typeface="Arial"/>
              </a:rPr>
              <a:t>100% OFFLINE</a:t>
            </a:r>
          </a:p>
        </p:txBody>
      </p: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5D758997-3B4A-066E-001D-4AA5B398B3C4}"/>
              </a:ext>
            </a:extLst>
          </p:cNvPr>
          <p:cNvSpPr/>
          <p:nvPr/>
        </p:nvSpPr>
        <p:spPr>
          <a:xfrm>
            <a:off x="7479443" y="5066779"/>
            <a:ext cx="3568376" cy="291627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buNone/>
            </a:pPr>
            <a:r>
              <a:rPr sz="1100" b="1" dirty="0">
                <a:solidFill>
                  <a:srgbClr val="161616"/>
                </a:solidFill>
                <a:latin typeface="Arial"/>
              </a:rPr>
              <a:t>LOCAL PERSISTENCE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D0AA32E-21A3-06F1-8109-4238E1FBCE77}"/>
                  </a:ext>
                </a:extLst>
              </p14:cNvPr>
              <p14:cNvContentPartPr/>
              <p14:nvPr/>
            </p14:nvContentPartPr>
            <p14:xfrm>
              <a:off x="-1379036" y="1693688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D0AA32E-21A3-06F1-8109-4238E1FBCE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51036" y="1549688"/>
                <a:ext cx="14400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352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FF453A"/>
                </a:solidFill>
                <a:latin typeface="Arial"/>
              </a:rPr>
              <a:t>Architectural Problem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6492240" cy="525780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453A"/>
                </a:solidFill>
                <a:latin typeface="Arial"/>
              </a:rPr>
              <a:t>Why basic terminal trackers fail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Many beginner console applications keep all runtime state in volatile memory, so data disappears as soon as the terminal process ends.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That means users lose accounts, workout records, and continuity of progress — which directly defeats the purpose of a tracking system.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A second weakness is spaghetti procedural code, where menus, parsing, validation, and file operations are tightly coupled in one fragile control flow.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Titan Track solves this by separating validation logic, user models, workout models, menu behavior, and storage mechanics into cleaner OOP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051560"/>
            <a:ext cx="4251960" cy="525780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Titan Track Response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Persistent local storage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Validation-gated registration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User session isolation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Polymorphic workout handling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Cleaner testability and maintainability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9327" y="5468112"/>
            <a:ext cx="2331720" cy="320040"/>
          </a:xfrm>
          <a:prstGeom prst="round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buNone/>
            </a:pPr>
            <a:r>
              <a:rPr sz="1100" b="1">
                <a:solidFill>
                  <a:srgbClr val="161616"/>
                </a:solidFill>
                <a:latin typeface="Arial"/>
              </a:rPr>
              <a:t>FROM VOLATILE TO PERSISTENT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00A2E8"/>
                </a:solidFill>
                <a:latin typeface="Arial"/>
              </a:rPr>
              <a:t>Environment Constraints &amp;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42415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F0F0F0"/>
                </a:solidFill>
                <a:latin typeface="Arial"/>
              </a:rPr>
              <a:t>Designed for classroom portability, low disk cost, and strict privacy through full offline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675887" cy="4498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Hardware Baseline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x86/x64 compatible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Under 5 MB storage footprint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Lab-machine friendly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5423" y="1691640"/>
            <a:ext cx="3675887" cy="4498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BF00"/>
                </a:solidFill>
                <a:latin typeface="Arial"/>
              </a:rPr>
              <a:t>Software Stack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Windows 10/11 console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ISO C++11 codebase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MinGW-w64 GCC compilation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8" y="1691640"/>
            <a:ext cx="3675887" cy="4498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32CD32"/>
                </a:solidFill>
                <a:latin typeface="Arial"/>
              </a:rPr>
              <a:t>Privacy Significance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100% offline workflow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No cloud dependency</a:t>
            </a:r>
          </a:p>
          <a:p>
            <a:pPr algn="l">
              <a:spcAft>
                <a:spcPts val="1000"/>
              </a:spcAft>
              <a:buNone/>
            </a:pPr>
            <a:r>
              <a:rPr sz="1700">
                <a:solidFill>
                  <a:srgbClr val="F0F0F0"/>
                </a:solidFill>
                <a:latin typeface="Arial"/>
              </a:rPr>
              <a:t>No third-party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00A2E8"/>
                </a:solidFill>
                <a:latin typeface="Arial"/>
              </a:rPr>
              <a:t>Blueprint of the Four OOP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29868"/>
            <a:ext cx="5440680" cy="2212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 dirty="0">
                <a:solidFill>
                  <a:srgbClr val="00A2E8"/>
                </a:solidFill>
                <a:latin typeface="Arial"/>
              </a:rPr>
              <a:t>Encapsulation</a:t>
            </a:r>
          </a:p>
          <a:p>
            <a:pPr algn="l">
              <a:spcAft>
                <a:spcPts val="1000"/>
              </a:spcAft>
              <a:buNone/>
            </a:pPr>
            <a:r>
              <a:rPr sz="1600" dirty="0">
                <a:solidFill>
                  <a:srgbClr val="F0F0F0"/>
                </a:solidFill>
                <a:latin typeface="Arial"/>
              </a:rPr>
              <a:t>Sensitive credentials stay behind protected/private bounds, and updates occur only through validation-controlled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5753" y="1216152"/>
            <a:ext cx="5440680" cy="2212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BF00"/>
                </a:solidFill>
                <a:latin typeface="Arial"/>
              </a:rPr>
              <a:t>Inheritance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TitanUser extends the base User class, reusing identity logic while adding workout-specific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938" y="3730752"/>
            <a:ext cx="5440680" cy="2212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32CD32"/>
                </a:solidFill>
                <a:latin typeface="Arial"/>
              </a:rPr>
              <a:t>Polymorphism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Different workout behaviors and menu flows are routed through flexible interfaces and override-capable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5753" y="3730752"/>
            <a:ext cx="5440680" cy="2212848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453A"/>
                </a:solidFill>
                <a:latin typeface="Arial"/>
              </a:rPr>
              <a:t>Abstraction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StorageManager hides raw file stream handling behind clear methods so the rest of the app stays cleaner and safer.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060" y="644906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00A2E8"/>
                </a:solidFill>
                <a:latin typeface="Arial"/>
              </a:rPr>
              <a:t>The Authentication Gatekeeper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257800" cy="53035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Registration Validation in Action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The registration layer blocks invalid user records before anything is persisted.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Email logic checks the presence and structure of the @ symbol and valid extension placement.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Password rules enforce minimum length and require uppercase, lowercase, and special-symbol presence.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The screenshot shows a live rejection case triggered by weak password composition.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65770" y="1051560"/>
            <a:ext cx="5532120" cy="530352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05140" y="1417320"/>
            <a:ext cx="2383437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1519209"/>
            <a:ext cx="531266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FF453A"/>
                </a:solidFill>
                <a:latin typeface="Arial"/>
              </a:rPr>
              <a:t>Weak Password Rejected</a:t>
            </a:r>
          </a:p>
        </p:txBody>
      </p:sp>
      <p:pic>
        <p:nvPicPr>
          <p:cNvPr id="9" name="Picture 8" descr="Screenshot 2026-06-04 182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75326"/>
            <a:ext cx="5349240" cy="23426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6208" y="6044184"/>
            <a:ext cx="53126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 dirty="0">
                <a:solidFill>
                  <a:srgbClr val="B4B4B4"/>
                </a:solidFill>
                <a:latin typeface="Consolas"/>
              </a:rPr>
              <a:t>Special-character requirement failed during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32CD32"/>
                </a:solidFill>
                <a:latin typeface="Arial"/>
              </a:rPr>
              <a:t>Authentication Success &amp; Session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840480" cy="53035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32CD32"/>
                </a:solidFill>
                <a:latin typeface="Arial"/>
              </a:rPr>
              <a:t>Verified Session Entry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After valid registration, the user authenticates using the stored email and password pair.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A successful match transitions the execution context into the athlete session.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This confirms the cooperation between validation, persistence, and login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051560"/>
            <a:ext cx="3246120" cy="530352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30246" y="1633326"/>
            <a:ext cx="1603948" cy="374902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37176" y="1732624"/>
            <a:ext cx="302666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32CD32"/>
                </a:solidFill>
                <a:latin typeface="Arial"/>
              </a:rPr>
              <a:t>Login Success</a:t>
            </a:r>
          </a:p>
        </p:txBody>
      </p:sp>
      <p:pic>
        <p:nvPicPr>
          <p:cNvPr id="9" name="Picture 8" descr="Screenshot 2026-06-04 182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943215"/>
            <a:ext cx="3063240" cy="17037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18888" y="6044184"/>
            <a:ext cx="30266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Consolas"/>
              </a:rPr>
              <a:t>Access granted and athlete session 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051560"/>
            <a:ext cx="3474720" cy="530352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00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06839" y="1622896"/>
            <a:ext cx="1764793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5" y="1740719"/>
            <a:ext cx="325526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00A2E8"/>
                </a:solidFill>
                <a:latin typeface="Arial"/>
              </a:rPr>
              <a:t>Dashboard Loaded</a:t>
            </a:r>
          </a:p>
        </p:txBody>
      </p:sp>
      <p:pic>
        <p:nvPicPr>
          <p:cNvPr id="14" name="Picture 13" descr="Screenshot 2026-06-04 183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1" y="2885641"/>
            <a:ext cx="3291840" cy="2167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93607" y="6044184"/>
            <a:ext cx="325526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Consolas"/>
              </a:rPr>
              <a:t>Authenticated athlete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83534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 dirty="0">
                <a:solidFill>
                  <a:srgbClr val="32CD32"/>
                </a:solidFill>
                <a:latin typeface="Arial"/>
              </a:rPr>
              <a:t>User Dashboard &amp; Workout Logging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0916" y="1532797"/>
            <a:ext cx="10972800" cy="14173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 dirty="0">
                <a:solidFill>
                  <a:srgbClr val="32CD32"/>
                </a:solidFill>
                <a:latin typeface="Arial"/>
              </a:rPr>
              <a:t>State Isolation + Activity Routing</a:t>
            </a:r>
          </a:p>
          <a:p>
            <a:pPr algn="l">
              <a:spcAft>
                <a:spcPts val="1000"/>
              </a:spcAft>
              <a:buNone/>
            </a:pPr>
            <a:r>
              <a:rPr sz="1500" dirty="0">
                <a:solidFill>
                  <a:srgbClr val="F0F0F0"/>
                </a:solidFill>
                <a:latin typeface="Arial"/>
              </a:rPr>
              <a:t>Once authenticated, actions operate only inside the active athlete context. Users can log workouts, inspect history, mark completion, or securely terminate the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120" y="3166252"/>
            <a:ext cx="5257800" cy="315468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00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99716" y="3211972"/>
            <a:ext cx="1648918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848" y="3321700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00A2E8"/>
                </a:solidFill>
                <a:latin typeface="Arial"/>
              </a:rPr>
              <a:t>Main Dashboard</a:t>
            </a:r>
          </a:p>
        </p:txBody>
      </p:sp>
      <p:pic>
        <p:nvPicPr>
          <p:cNvPr id="9" name="Picture 8" descr="Screenshot 2026-06-04 183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38" y="3696604"/>
            <a:ext cx="3818755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944" y="6010036"/>
            <a:ext cx="503834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Consolas"/>
              </a:rPr>
              <a:t>Menu options for log, history, completion, and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3217219"/>
            <a:ext cx="5257800" cy="315468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08080" y="3294268"/>
            <a:ext cx="1990294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71616" y="3344201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FFBF00"/>
                </a:solidFill>
                <a:latin typeface="Arial"/>
              </a:rPr>
              <a:t>Log Daily Metrics</a:t>
            </a:r>
          </a:p>
        </p:txBody>
      </p:sp>
      <p:pic>
        <p:nvPicPr>
          <p:cNvPr id="14" name="Picture 13" descr="Screenshot 2026-06-04 183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163" y="3794554"/>
            <a:ext cx="5074920" cy="225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6103336"/>
            <a:ext cx="503834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 dirty="0">
                <a:solidFill>
                  <a:srgbClr val="B4B4B4"/>
                </a:solidFill>
                <a:latin typeface="Consolas"/>
              </a:rPr>
              <a:t>Choose Strength or Cardio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51436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00A2E8"/>
                </a:solidFill>
                <a:latin typeface="Arial"/>
              </a:rPr>
              <a:t>Workout Chronicle &amp; Completion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5216" y="1099926"/>
            <a:ext cx="10972800" cy="14173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Persistent Record Evolution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Titan Track persists workout metadata such as type, weight, sets, reps, status, and timestamp. A pending workout can later be mutated into a completed state without leaving the local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5082"/>
            <a:ext cx="5266944" cy="329184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38950" y="2859974"/>
            <a:ext cx="3282846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901" y="2962904"/>
            <a:ext cx="52669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FFBF00"/>
                </a:solidFill>
                <a:latin typeface="Arial"/>
              </a:rPr>
              <a:t>Workout Chronicle / Pending Status</a:t>
            </a:r>
          </a:p>
        </p:txBody>
      </p:sp>
      <p:pic>
        <p:nvPicPr>
          <p:cNvPr id="9" name="Picture 8" descr="Screenshot 2026-06-04 183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74" y="3470224"/>
            <a:ext cx="4876075" cy="1650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6901" y="5495544"/>
            <a:ext cx="526694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 dirty="0">
                <a:solidFill>
                  <a:srgbClr val="B4B4B4"/>
                </a:solidFill>
                <a:latin typeface="Consolas"/>
              </a:rPr>
              <a:t>Chronicle view shows saved exercise state and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798809"/>
            <a:ext cx="5486400" cy="315468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25752" y="2859974"/>
            <a:ext cx="2762988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7916" y="2938747"/>
            <a:ext cx="526694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32CD32"/>
                </a:solidFill>
                <a:latin typeface="Arial"/>
              </a:rPr>
              <a:t>Mark Workout as Completed</a:t>
            </a:r>
          </a:p>
        </p:txBody>
      </p:sp>
      <p:pic>
        <p:nvPicPr>
          <p:cNvPr id="14" name="Picture 13" descr="Screenshot 2026-06-04 1831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281150"/>
            <a:ext cx="5303520" cy="2253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03620" y="5630820"/>
            <a:ext cx="526694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 dirty="0">
                <a:solidFill>
                  <a:srgbClr val="B4B4B4"/>
                </a:solidFill>
                <a:latin typeface="Consolas"/>
              </a:rPr>
              <a:t>Pending workout successfully updated to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FFBF00"/>
                </a:solidFill>
                <a:latin typeface="Arial"/>
              </a:rPr>
              <a:t>Secure Logout &amp; Session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029200" cy="53035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BF00"/>
                </a:solidFill>
                <a:latin typeface="Arial"/>
              </a:rPr>
              <a:t>Why Logout Matters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Titan Track does not just enter sessions safely — it also exits them safely.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The logout sequence clears the current athlete context to avoid accidental carryover into the next interaction cycle.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This is important for multi-user classroom demonstrations and aligns with secure state-management principles.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051560"/>
            <a:ext cx="5669280" cy="5303520"/>
          </a:xfrm>
          <a:prstGeom prst="roundRect">
            <a:avLst/>
          </a:prstGeom>
          <a:solidFill>
            <a:srgbClr val="2D2D2D"/>
          </a:solidFill>
          <a:ln w="2286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74636" y="1408176"/>
            <a:ext cx="2743200" cy="384048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21324" y="1521244"/>
            <a:ext cx="54498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400" b="1" dirty="0">
                <a:solidFill>
                  <a:srgbClr val="32CD32"/>
                </a:solidFill>
                <a:latin typeface="Arial"/>
              </a:rPr>
              <a:t>Secure Session Termination</a:t>
            </a:r>
          </a:p>
        </p:txBody>
      </p:sp>
      <p:pic>
        <p:nvPicPr>
          <p:cNvPr id="9" name="Picture 8" descr="Screenshot 2026-06-04 183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36228"/>
            <a:ext cx="5486400" cy="27548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9048" y="6044184"/>
            <a:ext cx="5449824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Consolas"/>
              </a:rPr>
              <a:t>Session cleared and athlete logged out securely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>
                <a:solidFill>
                  <a:srgbClr val="00A2E8"/>
                </a:solidFill>
                <a:latin typeface="Arial"/>
              </a:rPr>
              <a:t>Local Persistence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6675120" cy="53035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Flat-File Database Model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Titan Track uses &lt;fstream&gt; to store credentials and workout records in local text files such as users.txt and workouts.txt.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At write time, runtime objects are serialized into comma-delimited strings. On startup, std::stringstream tokenizes lines back into usable values.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This gives the project true persistence without introducing external libraries or cloud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108960" cy="603504"/>
          </a:xfrm>
          <a:prstGeom prst="roundRect">
            <a:avLst/>
          </a:prstGeom>
          <a:solidFill>
            <a:srgbClr val="16161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000" b="1">
                <a:solidFill>
                  <a:srgbClr val="00A2E8"/>
                </a:solidFill>
                <a:latin typeface="Arial"/>
              </a:rPr>
              <a:t>Runtime Objects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88920"/>
            <a:ext cx="3108960" cy="548640"/>
          </a:xfrm>
          <a:prstGeom prst="roundRect">
            <a:avLst/>
          </a:prstGeom>
          <a:solidFill>
            <a:srgbClr val="16161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000" b="1">
                <a:solidFill>
                  <a:srgbClr val="FFBF00"/>
                </a:solidFill>
                <a:latin typeface="Arial"/>
              </a:rPr>
              <a:t>Serialize →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794760"/>
            <a:ext cx="3108960" cy="822210"/>
          </a:xfrm>
          <a:prstGeom prst="roundRect">
            <a:avLst/>
          </a:prstGeom>
          <a:solidFill>
            <a:srgbClr val="16161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000" b="1" dirty="0">
                <a:solidFill>
                  <a:srgbClr val="32CD32"/>
                </a:solidFill>
                <a:latin typeface="Arial"/>
              </a:rPr>
              <a:t>Read → Tokenize → Restore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801" y="-91078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800" b="1" dirty="0">
                <a:solidFill>
                  <a:srgbClr val="00A2E8"/>
                </a:solidFill>
                <a:latin typeface="Arial"/>
              </a:rPr>
              <a:t>Source Code Implementation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801" y="522253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4589" y="646976"/>
            <a:ext cx="8879273" cy="5744680"/>
          </a:xfrm>
          <a:prstGeom prst="roundRect">
            <a:avLst/>
          </a:prstGeom>
          <a:solidFill>
            <a:srgbClr val="161616"/>
          </a:solidFill>
          <a:ln w="25400">
            <a:solidFill>
              <a:srgbClr val="00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t"/>
          <a:lstStyle/>
          <a:p>
            <a:pPr algn="l">
              <a:buNone/>
            </a:pPr>
            <a:r>
              <a:rPr sz="1800" dirty="0">
                <a:solidFill>
                  <a:srgbClr val="F0F0F0"/>
                </a:solidFill>
                <a:latin typeface="Courier New"/>
              </a:rPr>
              <a:t>class View {
public:
    virtual void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displayMenu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() = 0;
};
class User {
protected:
    string email, password;
};
class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TitanUser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 : public User {
private:
    vector&lt;Workout&gt; logs;
};
class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StorageManager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 {
public:
    bool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saveUser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(const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TitanUser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&amp; u);
    vector&lt;Workout&gt; </a:t>
            </a:r>
            <a:r>
              <a:rPr sz="1800" dirty="0" err="1">
                <a:solidFill>
                  <a:srgbClr val="F0F0F0"/>
                </a:solidFill>
                <a:latin typeface="Courier New"/>
              </a:rPr>
              <a:t>loadWorkouts</a:t>
            </a:r>
            <a:r>
              <a:rPr sz="1800" dirty="0">
                <a:solidFill>
                  <a:srgbClr val="F0F0F0"/>
                </a:solidFill>
                <a:latin typeface="Courier New"/>
              </a:rPr>
              <a:t>(const string&amp; email);</a:t>
            </a:r>
            <a:r>
              <a:rPr lang="en-GB" dirty="0">
                <a:solidFill>
                  <a:srgbClr val="F0F0F0"/>
                </a:solidFill>
                <a:latin typeface="Courier New"/>
              </a:rPr>
              <a:t>}</a:t>
            </a:r>
            <a:endParaRPr sz="1800" dirty="0">
              <a:solidFill>
                <a:srgbClr val="F0F0F0"/>
              </a:solidFill>
              <a:latin typeface="Courier New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65427" y="876905"/>
            <a:ext cx="72317" cy="67660"/>
          </a:xfrm>
          <a:prstGeom prst="ellipse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39286" y="876905"/>
            <a:ext cx="72317" cy="67660"/>
          </a:xfrm>
          <a:prstGeom prst="ellipse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13145" y="876905"/>
            <a:ext cx="72317" cy="67660"/>
          </a:xfrm>
          <a:prstGeom prst="ellipse">
            <a:avLst/>
          </a:prstGeom>
          <a:solidFill>
            <a:srgbClr val="32C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0996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00A2E8"/>
                </a:solidFill>
                <a:latin typeface="Arial"/>
              </a:rPr>
              <a:t>Quality Assurance, Limitations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45952" cy="27432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303520" cy="53035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00A2E8"/>
                </a:solidFill>
                <a:latin typeface="Arial"/>
              </a:rPr>
              <a:t>Validation &amp; Testing Mindset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A separate test.cpp pathway can validate email rules, password strength logic, login behavior, and workflow correctness.</a:t>
            </a:r>
          </a:p>
          <a:p>
            <a:pPr algn="l">
              <a:spcAft>
                <a:spcPts val="1000"/>
              </a:spcAft>
              <a:buNone/>
            </a:pPr>
            <a:r>
              <a:rPr sz="1600">
                <a:solidFill>
                  <a:srgbClr val="F0F0F0"/>
                </a:solidFill>
                <a:latin typeface="Arial"/>
              </a:rPr>
              <a:t>Live screenshots support the defense by proving that the implemented logic is visible and operational in the terminal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5486400" cy="246888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FFBF00"/>
                </a:solidFill>
                <a:latin typeface="Arial"/>
              </a:rPr>
              <a:t>Current Limitations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Flat-file parsing scales linearly as record counts grow.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Plaintext-oriented local storage should evolve toward hashing and more structured indexing.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486400" cy="246888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73152" rtlCol="0" anchor="t"/>
          <a:lstStyle/>
          <a:p>
            <a:pPr algn="l">
              <a:spcAft>
                <a:spcPts val="600"/>
              </a:spcAft>
              <a:buNone/>
            </a:pPr>
            <a:r>
              <a:rPr sz="2200" b="1">
                <a:solidFill>
                  <a:srgbClr val="32CD32"/>
                </a:solidFill>
                <a:latin typeface="Arial"/>
              </a:rPr>
              <a:t>Future Upgrades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Upgrade persistence to SQLite for better indexing and scalability.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Add SHA-256 password hashing and stronger defensive error handling.</a:t>
            </a:r>
          </a:p>
          <a:p>
            <a:pPr algn="l">
              <a:spcAft>
                <a:spcPts val="1000"/>
              </a:spcAft>
              <a:buNone/>
            </a:pPr>
            <a:r>
              <a:rPr sz="1500">
                <a:solidFill>
                  <a:srgbClr val="F0F0F0"/>
                </a:solidFill>
                <a:latin typeface="Arial"/>
              </a:rPr>
              <a:t>Extend dashboard analytics and richer unit-test coverage.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03152" y="0"/>
            <a:ext cx="68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1560" y="960120"/>
            <a:ext cx="10058400" cy="4846320"/>
          </a:xfrm>
          <a:prstGeom prst="roundRect">
            <a:avLst/>
          </a:prstGeom>
          <a:solidFill>
            <a:srgbClr val="262626"/>
          </a:solidFill>
          <a:ln w="25400">
            <a:solidFill>
              <a:srgbClr val="00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00200"/>
            <a:ext cx="950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4600" b="1">
                <a:solidFill>
                  <a:srgbClr val="00A2E8"/>
                </a:solidFill>
                <a:latin typeface="Arial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0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2400" b="0">
                <a:solidFill>
                  <a:srgbClr val="F0F0F0"/>
                </a:solidFill>
                <a:latin typeface="Arial"/>
              </a:rPr>
              <a:t>Thank you for your time and consideration!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16052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600" b="1">
                <a:solidFill>
                  <a:srgbClr val="FFBF00"/>
                </a:solidFill>
                <a:latin typeface="Arial"/>
              </a:rPr>
              <a:t>Evaluator: Mr. Aadil Khan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500" b="0">
                <a:solidFill>
                  <a:srgbClr val="B4B4B4"/>
                </a:solidFill>
                <a:latin typeface="Arial"/>
              </a:rPr>
              <a:t>Developers: Zarak Khan Afridi (B25F0485CYD123) • Amar Sadat (B25F2099CYS127)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5687568"/>
            <a:ext cx="192938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5687568"/>
            <a:ext cx="192938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5687568"/>
            <a:ext cx="192938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5687568"/>
            <a:ext cx="192938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1000" b="0">
                <a:solidFill>
                  <a:srgbClr val="B4B4B4"/>
                </a:solidFill>
                <a:latin typeface="Arial"/>
              </a:rPr>
              <a:t>Titan Track Final Defense • Zarak Khan Afridi (B25F0485CYD123) • Amar Sadat (B25F2099CYS127)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1175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Zarak Afridi</dc:creator>
  <cp:keywords/>
  <dc:description>generated using python-pptx</dc:description>
  <cp:lastModifiedBy>Zarak Afridi</cp:lastModifiedBy>
  <cp:revision>2</cp:revision>
  <dcterms:created xsi:type="dcterms:W3CDTF">2026-06-04T14:07:42Z</dcterms:created>
  <dcterms:modified xsi:type="dcterms:W3CDTF">2026-06-04T14:46:21Z</dcterms:modified>
  <cp:category/>
</cp:coreProperties>
</file>